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重庆市教委重点项目 · 千人千面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863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A1A1A"/>
                </a:solidFill>
                <a:latin typeface="Inter"/>
              </a:rPr>
              <a:t>个性化智能课程资源系统的</a:t>
            </a:r>
          </a:p>
          <a:p>
            <a:pPr algn="l">
              <a:lnSpc>
                <a:spcPct val="115000"/>
              </a:lnSpc>
            </a:pPr>
            <a:r>
              <a:rPr sz="4400" b="1">
                <a:solidFill>
                  <a:srgbClr val="1A1A1A"/>
                </a:solidFill>
                <a:latin typeface="Inter"/>
              </a:rPr>
              <a:t>知识产权蓝图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74980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世界模型 × 多协议开放层 × 记忆金字塔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—— 从工程实现到 专利 · 软著 · 论文 · 专著 的完整产出路线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051560"/>
            <a:ext cx="2743200" cy="1600200"/>
          </a:xfrm>
          <a:prstGeom prst="roundRect">
            <a:avLst/>
          </a:prstGeom>
          <a:solidFill>
            <a:srgbClr val="B5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1188720"/>
            <a:ext cx="2377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KEY INSIGHT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系统 P0–P4 全部构建闭环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69 项 E2E 全绿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Inter"/>
              </a:rPr>
              <a:t>10 项创新点完成 IP 评级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ROADMAP · 四类产出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579293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462272"/>
            <a:ext cx="235983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5392A"/>
                </a:solidFill>
                <a:latin typeface="Inter"/>
              </a:rPr>
              <a:t>PATENT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718304"/>
            <a:ext cx="23598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发明专利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84064"/>
            <a:ext cx="2359837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3 项核心 + 1 项储备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2026-11 交底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973" y="4389120"/>
            <a:ext cx="2579293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701" y="4462272"/>
            <a:ext cx="235983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5392A"/>
                </a:solidFill>
                <a:latin typeface="Inter"/>
              </a:rPr>
              <a:t>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701" y="4718304"/>
            <a:ext cx="23598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学术论文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701" y="5084064"/>
            <a:ext cx="2359837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1 SCI + 1 核心 + 2 EI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389120"/>
            <a:ext cx="2579293" cy="1554480"/>
          </a:xfrm>
          <a:prstGeom prst="roundRect">
            <a:avLst/>
          </a:prstGeom>
          <a:solidFill>
            <a:srgbClr val="B5392A"/>
          </a:solidFill>
          <a:ln w="1905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4155" y="4462272"/>
            <a:ext cx="235983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0EAE0"/>
                </a:solidFill>
                <a:latin typeface="Inter"/>
              </a:rPr>
              <a:t>CORE · 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4155" y="4718304"/>
            <a:ext cx="23598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学习世界模型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4155" y="5084064"/>
            <a:ext cx="2359837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参数化动力学模拟器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无需 GPU · what-if 选教案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0881" y="4389120"/>
            <a:ext cx="2579293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0609" y="4462272"/>
            <a:ext cx="235983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5392A"/>
                </a:solidFill>
                <a:latin typeface="Inter"/>
              </a:rPr>
              <a:t>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0609" y="4718304"/>
            <a:ext cx="235983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专著 + 软著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0609" y="5084064"/>
            <a:ext cx="2359837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12 章专著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4 项软著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千人千面 IP Blueprint · v1.2 · 2026.10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CHAPTER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A1A1A"/>
                </a:solidFill>
                <a:latin typeface="Inter"/>
              </a:rPr>
              <a:t>10 项创新点，谁最值钱？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55555"/>
                </a:solidFill>
                <a:latin typeface="Inter"/>
              </a:rPr>
              <a:t>不是所有代码都能变成知识产权。我们按 新颖性 × 非显而易见性 × 可专利性 × 发表价值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555555"/>
                </a:solidFill>
                <a:latin typeface="Inter"/>
              </a:rPr>
              <a:t>给全部资源评了级 —— 两个 P0 双料创新点亮出。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Section · 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ASSESSMENT · 10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A1A1A"/>
                </a:solidFill>
                <a:latin typeface="Inter"/>
              </a:rPr>
              <a:t>IP 评级矩阵：两个 P0 双料胜出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002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新颖性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0020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IP 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6002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优先级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47672"/>
            <a:ext cx="1069848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20824"/>
            <a:ext cx="10789920" cy="475488"/>
          </a:xfrm>
          <a:prstGeom prst="rect">
            <a:avLst/>
          </a:prstGeom>
          <a:solidFill>
            <a:srgbClr val="F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① 学习世界模型（参数化动力学 + what-if 选教案）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5392A"/>
                </a:solidFill>
                <a:latin typeface="Inter"/>
              </a:rPr>
              <a:t>★★★★★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专利核心 + SCI 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05740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551176"/>
            <a:ext cx="10789920" cy="475488"/>
          </a:xfrm>
          <a:prstGeom prst="rect">
            <a:avLst/>
          </a:prstGeom>
          <a:solidFill>
            <a:srgbClr val="F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87752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② 三层覆盖链配置（层级画像+槽位+白名单守卫）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87752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5392A"/>
                </a:solidFill>
                <a:latin typeface="Inter"/>
              </a:rPr>
              <a:t>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58775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发明专利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587752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18104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③ 深度交互状态机（Bloom 爬升 + 广度分支）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18104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11810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专利 + 软著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11810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55555"/>
                </a:solidFill>
                <a:latin typeface="Inter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48456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④ 多协议开放层（MCP + A2A v1.0 + AG-UI）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48456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★★★☆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64845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软著 + EI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648456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55555"/>
                </a:solidFill>
                <a:latin typeface="Inter"/>
              </a:rPr>
              <a:t>P1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142232"/>
            <a:ext cx="10789920" cy="475488"/>
          </a:xfrm>
          <a:prstGeom prst="rect">
            <a:avLst/>
          </a:prstGeom>
          <a:solidFill>
            <a:srgbClr val="F3D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78808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⑦ 记忆金字塔（L1→L3 + SM-2×Ebbinghaus + ZPD）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17880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5392A"/>
                </a:solidFill>
                <a:latin typeface="Inter"/>
              </a:rPr>
              <a:t>★★★★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7880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专利 + 核心期刊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1788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0916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⑤⑥⑧⑨⑩ Durable Session/增量同步/生成工作流/技能包/平台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70916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★★~★★★☆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70916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软著(并入)/EI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709160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555555"/>
                </a:solidFill>
                <a:latin typeface="Inter"/>
              </a:rPr>
              <a:t>P1-P3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7667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■  P0 = 先专利后论文（2026-11 启动交底）    评级维度：新颖性 / 非显而易见性 / 可专利性 / 发表价值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Content · Matrix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P0 · PATENT 1 + SCI PAPER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A1A1A"/>
                </a:solidFill>
                <a:latin typeface="Inter"/>
              </a:rPr>
              <a:t>学习世界模型：最轻也最稀缺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把「学生-知识-掌握度」环境建成纯参数化模拟器 —— 生成资源前先推演, 选期望奖励最高的教案。无需 GPU, 可解释、可审计。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2120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转移函数（实施例核心）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8463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T(s'|s,a):  gain = G × k_a × (1-m) × 前置传递(0.35×Pr)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            练习再乘熟练激励 (0.5+0.5m)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            遗忘: m × (1-λ)^t,  λ=0.06/日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R = gain − 时间成本(0.05×min/20)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四动作 what-if: explain / exercise / review / skip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多步推演 simulate(plan, horizon=3) → 教案排序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212080" cy="2834640"/>
          </a:xfrm>
          <a:prstGeom prst="roundRect">
            <a:avLst/>
          </a:prstGeom>
          <a:solidFill>
            <a:srgbClr val="F3DFDB"/>
          </a:solidFill>
          <a:ln w="1905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957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5392A"/>
                </a:solidFill>
                <a:latin typeface="Inter"/>
              </a:rPr>
              <a:t>区别于现有技术（答审要点）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8463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三处非显而易见：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① 熟练激励项 (0.5+0.5m) 与前置传递系数显式入模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② 推演结果直接驱动「资源生成」选教案 —— 不只是推荐排序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③ 教育层级画像（职教/本科/研究生）条件化参数分档 + Bloom 天花板一致性守卫（fail-loud）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●  实测基线：KT AUC 0.7708；推演单步 &lt;1ms（纯参数化）    论文 A 实验三件套：推演精度 MAE / 消融 / 系统效率（research.py 采集）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Content · World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P0 · PATENT 2 + 中文核心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A1A1A"/>
                </a:solidFill>
                <a:latin typeface="Inter"/>
              </a:rPr>
              <a:t>记忆金字塔：三级聚合的复习调度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4480560" y="1097280"/>
            <a:ext cx="3200400" cy="1417320"/>
          </a:xfrm>
          <a:prstGeom prst="triangle">
            <a:avLst/>
          </a:prstGeom>
          <a:solidFill>
            <a:srgbClr val="B5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Inter"/>
              </a:rPr>
              <a:t>L3 画像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3108960" y="2011680"/>
            <a:ext cx="5943600" cy="1463040"/>
          </a:xfrm>
          <a:prstGeom prst="triangle">
            <a:avLst/>
          </a:prstGeom>
          <a:solidFill>
            <a:srgbClr val="D9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5146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L2 会话摘要 · Bloom 加权掌握度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1737360" y="2971800"/>
            <a:ext cx="8686800" cy="1463040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34747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A3C1E"/>
                </a:solidFill>
                <a:latin typeface="Inter"/>
              </a:rPr>
              <a:t>L1 学习事件流（逐条作答）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5262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7A3C1E"/>
                </a:solidFill>
                <a:latin typeface="Inter"/>
              </a:rPr>
              <a:t>SM-2 × Ebbinghaus 双模型融合调度 · ZPD 桥接释放（前置≥0.7 且当前∈[0.3,0.7]）· 缺口四分类驱动干预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389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区别于 Anki / SuperMemo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Inter"/>
              </a:rPr>
              <a:t>单层 SM-2 → 三级聚合 + 双遗忘模型融合 + 缺口四分类(missing/partial/forgotten/misconception)驱动差异化干预。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029200"/>
            <a:ext cx="52120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1389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论文 B 数据底座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5321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Inter"/>
              </a:rPr>
              <a:t>KT 全链路 69 项 E2E + L1/L2 真实事件, 经 research.py 脱敏导出(SHA-256, GB/T 35273)。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Content · Memory Pyramid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P1 · PAPER C (EI) + 软著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A1A1A"/>
                </a:solidFill>
                <a:latin typeface="Inter"/>
              </a:rPr>
              <a:t>三大开放协议，一次接全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555"/>
                </a:solidFill>
                <a:latin typeface="Inter"/>
              </a:rPr>
              <a:t>业界已收敛为三协议分工：MCP 管智能体↔工具, A2A 管智能体↔智能体, AG-UI 管智能体↔前端。本系统三协议全部落地官方传输层。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84778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50592"/>
            <a:ext cx="32653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5392A"/>
                </a:solidFill>
                <a:latin typeface="Inter"/>
              </a:rPr>
              <a:t>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06624"/>
            <a:ext cx="32653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↔ 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72384"/>
            <a:ext cx="326532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streamable-http /mcp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initialize · tools/list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tools/call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(2026-06-18 协议版)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3458" y="2377440"/>
            <a:ext cx="3484778" cy="2377440"/>
          </a:xfrm>
          <a:prstGeom prst="roundRect">
            <a:avLst/>
          </a:prstGeom>
          <a:solidFill>
            <a:srgbClr val="B5392A"/>
          </a:solidFill>
          <a:ln w="1905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3186" y="2450592"/>
            <a:ext cx="32653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0EAE0"/>
                </a:solidFill>
                <a:latin typeface="Inter"/>
              </a:rPr>
              <a:t>A2A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3186" y="2706624"/>
            <a:ext cx="32653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↔ 智能体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3186" y="3072384"/>
            <a:ext cx="326532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AgentCard 发现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JSONRPC(必选传输)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message/stream SSE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push notification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F7E8E4"/>
                </a:solidFill>
                <a:latin typeface="Inter"/>
              </a:rPr>
              <a:t>Pulsar 异步队列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5396" y="2377440"/>
            <a:ext cx="3484778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5124" y="2450592"/>
            <a:ext cx="32653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5392A"/>
                </a:solidFill>
                <a:latin typeface="Inter"/>
              </a:rPr>
              <a:t>AG-UI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5124" y="2706624"/>
            <a:ext cx="326532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A1A"/>
                </a:solidFill>
                <a:latin typeface="Inter"/>
              </a:rPr>
              <a:t>↔ 前端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5124" y="3072384"/>
            <a:ext cx="326532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标准事件流 /agui/runs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RUN_* · TEXT_MESSAGE_*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三端统一消费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(Web/APP/小程序)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●  E2E 69 项全绿（含官方传输 8 项专项）      论文 C 指标：发现时延 / 委派成功率 / 事件完整性 / sync-vs-async 吞吐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Content · Protocols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PATENT DRAFTING · 交底书骨架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A1A1A"/>
                </a:solidFill>
                <a:latin typeface="Inter"/>
              </a:rPr>
              <a:t>权利要求树（专利1 示例）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754880" cy="777240"/>
          </a:xfrm>
          <a:prstGeom prst="roundRect">
            <a:avLst/>
          </a:prstGeom>
          <a:solidFill>
            <a:srgbClr val="B5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独立权利要求 1（方法）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Inter"/>
              </a:rPr>
              <a:t>基于学习世界模型的资源生成方法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988820.0" y="2240280"/>
            <a:ext cx="1120140.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743200"/>
            <a:ext cx="2514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S1 状态空间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272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掌握度向量+风格+衰减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240280"/>
            <a:ext cx="1513332.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64992" y="2743200"/>
            <a:ext cx="2514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81635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S2 转移函数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31272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增益×激励×前置−遗忘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2240280"/>
            <a:ext cx="4146804.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98464" y="2743200"/>
            <a:ext cx="2514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281635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S3 推演选教案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31272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H 步推演+奖励排序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2240280"/>
            <a:ext cx="6780276.0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31936" y="2743200"/>
            <a:ext cx="25146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281635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S4 审核闭环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312724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推演差异修正生成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783080" y="3611880"/>
            <a:ext cx="0" cy="411480"/>
          </a:xfrm>
          <a:prstGeom prst="line">
            <a:avLst/>
          </a:prstGeom>
          <a:ln w="19050">
            <a:solidFill>
              <a:srgbClr val="B5392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4023360"/>
            <a:ext cx="2377440" cy="868680"/>
          </a:xfrm>
          <a:prstGeom prst="roundRect">
            <a:avLst/>
          </a:prstGeom>
          <a:solidFill>
            <a:srgbClr val="F3DFDB"/>
          </a:solidFill>
          <a:ln w="1524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096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392A"/>
                </a:solidFill>
                <a:latin typeface="Inter"/>
              </a:rPr>
              <a:t>从属1: 层级画像分档参数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074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5392A"/>
                </a:solidFill>
                <a:latin typeface="Inter"/>
              </a:rPr>
              <a:t>职教/本科/研究生 Bloom 天花板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09160" y="3611880"/>
            <a:ext cx="0" cy="411480"/>
          </a:xfrm>
          <a:prstGeom prst="line">
            <a:avLst/>
          </a:prstGeom>
          <a:ln w="19050">
            <a:solidFill>
              <a:srgbClr val="B5392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657600" y="4023360"/>
            <a:ext cx="2377440" cy="868680"/>
          </a:xfrm>
          <a:prstGeom prst="roundRect">
            <a:avLst/>
          </a:prstGeom>
          <a:solidFill>
            <a:srgbClr val="F3DFDB"/>
          </a:solidFill>
          <a:ln w="1524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4096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392A"/>
                </a:solidFill>
                <a:latin typeface="Inter"/>
              </a:rPr>
              <a:t>从属2: what-if 四动作对比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4074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5392A"/>
                </a:solidFill>
                <a:latin typeface="Inter"/>
              </a:rPr>
              <a:t>explain/exercise/review/skip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35240" y="3611880"/>
            <a:ext cx="0" cy="411480"/>
          </a:xfrm>
          <a:prstGeom prst="line">
            <a:avLst/>
          </a:prstGeom>
          <a:ln w="19050">
            <a:solidFill>
              <a:srgbClr val="B5392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83680" y="4023360"/>
            <a:ext cx="2377440" cy="868680"/>
          </a:xfrm>
          <a:prstGeom prst="roundRect">
            <a:avLst/>
          </a:prstGeom>
          <a:solidFill>
            <a:srgbClr val="F3DFDB"/>
          </a:solidFill>
          <a:ln w="1524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96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392A"/>
                </a:solidFill>
                <a:latin typeface="Inter"/>
              </a:rPr>
              <a:t>从属3: SM-2 遗忘挽回奖励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0740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5392A"/>
                </a:solidFill>
                <a:latin typeface="Inter"/>
              </a:rPr>
              <a:t>复习动作按挽回量计奖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1463040"/>
            <a:ext cx="228600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1554480"/>
            <a:ext cx="2011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独立权利要求 2（系统）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世界模型+生成引擎+审核器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Diagram · Claims Tree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EXECUTION · 2026-2028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A1A1A"/>
                </a:solidFill>
                <a:latin typeface="Inter"/>
              </a:rPr>
              <a:t>四年 IP 产出路线图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2377440" cy="384048"/>
          </a:xfrm>
          <a:prstGeom prst="rect">
            <a:avLst/>
          </a:prstGeom>
          <a:solidFill>
            <a:srgbClr val="B53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7393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nter"/>
              </a:rPr>
              <a:t>专利1+2 交底/提交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148840"/>
            <a:ext cx="2834640" cy="384048"/>
          </a:xfrm>
          <a:prstGeom prst="rect">
            <a:avLst/>
          </a:prstGeom>
          <a:solidFill>
            <a:srgbClr val="D9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185416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nter"/>
              </a:rPr>
              <a:t>专利3 提交 · 论文A投稿(SCI)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60320"/>
            <a:ext cx="2103120" cy="384048"/>
          </a:xfrm>
          <a:prstGeom prst="rect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7A3C1E"/>
                </a:solidFill>
                <a:latin typeface="Inter"/>
              </a:rPr>
              <a:t>软著 1+2 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560320"/>
            <a:ext cx="2377440" cy="384048"/>
          </a:xfrm>
          <a:prstGeom prst="rect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59689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7A3C1E"/>
                </a:solidFill>
                <a:latin typeface="Inter"/>
              </a:rPr>
              <a:t>软著 3+4 · 论文B/C/D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971800"/>
            <a:ext cx="3840480" cy="384048"/>
          </a:xfrm>
          <a:prstGeom prst="rect">
            <a:avLst/>
          </a:prstGeom>
          <a:solidFill>
            <a:srgbClr val="8B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3008376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nter"/>
              </a:rPr>
              <a:t>实验三件套: 合成流量→推演精度→消融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383280"/>
            <a:ext cx="7132320" cy="384048"/>
          </a:xfrm>
          <a:prstGeom prst="rect">
            <a:avLst/>
          </a:prstGeom>
          <a:solidFill>
            <a:srgbClr val="55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419856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nter"/>
              </a:rPr>
              <a:t>专著《人工智能赋能职业教育》12 章: 签约→初稿→出版(2028H1)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94760"/>
            <a:ext cx="6400800" cy="384048"/>
          </a:xfrm>
          <a:prstGeom prst="rect">
            <a:avLst/>
          </a:prstGeom>
          <a:solidFill>
            <a:srgbClr val="4A6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31336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nter"/>
              </a:rPr>
              <a:t>专利实审 + 论文返修周期（并行推进）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4173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2026-10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14173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2027-06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4173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2027-12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14173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555555"/>
                </a:solidFill>
                <a:latin typeface="Inter"/>
              </a:rPr>
              <a:t>2028-06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555555"/>
                </a:solidFill>
                <a:latin typeface="Inter"/>
              </a:rPr>
              <a:t>关键纪律: 专利申请日 → 早于论文任何公开（含预印本）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55555"/>
                </a:solidFill>
                <a:latin typeface="Inter"/>
              </a:rPr>
              <a:t>数据合规: 学生数据 SHA-256 脱敏（GB/T 35273）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55555"/>
                </a:solidFill>
                <a:latin typeface="Inter"/>
              </a:rPr>
              <a:t>工程证据: 69 项 E2E 全绿, 可复现实验经 research.py 统一采集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Timeline · Gantt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ENGINEERING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A1A1A"/>
                </a:solidFill>
                <a:latin typeface="Inter"/>
              </a:rPr>
              <a:t>发表就绪度：工程侧已无欠账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555555"/>
                </a:solidFill>
                <a:latin typeface="Inter"/>
              </a:rPr>
              <a:t>已具备（W1-W6 无阻塞依赖）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✔ 世界模型/金字塔/交互 全代码 + 69 项 E2E</a:t>
            </a:r>
          </a:p>
          <a:p>
            <a:pPr algn="l">
              <a:lnSpc>
                <a:spcPct val="18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✔ research.py: 实验登记+指标快照+脱敏导出</a:t>
            </a:r>
          </a:p>
          <a:p>
            <a:pPr algn="l">
              <a:lnSpc>
                <a:spcPct val="18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✔ 消融开关路径（env, ADR-016）</a:t>
            </a:r>
          </a:p>
          <a:p>
            <a:pPr algn="l">
              <a:lnSpc>
                <a:spcPct val="18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✔ 多端(网页/APP/小程序) AG-UI 一致事件</a:t>
            </a:r>
          </a:p>
          <a:p>
            <a:pPr algn="l">
              <a:lnSpc>
                <a:spcPct val="18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✔ 13 幅 TOGAF 架构图 → 专利附图素材</a:t>
            </a:r>
          </a:p>
          <a:p>
            <a:pPr algn="l">
              <a:lnSpc>
                <a:spcPct val="18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✔ 软著申报书底稿已就绪(v1.2 对齐实测口径)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3291840"/>
          </a:xfrm>
          <a:prstGeom prst="roundRect">
            <a:avLst/>
          </a:prstGeom>
          <a:solidFill>
            <a:srgbClr val="F3DFDB"/>
          </a:solidFill>
          <a:ln w="19050">
            <a:solidFill>
              <a:srgbClr val="B53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5392A"/>
                </a:solidFill>
                <a:latin typeface="Inter"/>
              </a:rPr>
              <a:t>六周冲刺排期  W1 → W6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463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W1 合成学习流量发生器（200 虚拟学生×8 周）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W2 推演精度实验（MAE≤0.05, ρ≥0.7）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W3 基线消融开关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W4 协议互操作基准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W5 专利交底书×3</a:t>
            </a:r>
          </a:p>
          <a:p>
            <a:pPr algn="l">
              <a:lnSpc>
                <a:spcPct val="160000"/>
              </a:lnSpc>
            </a:pPr>
            <a:r>
              <a:rPr sz="1300" b="0">
                <a:solidFill>
                  <a:srgbClr val="1A1A1A"/>
                </a:solidFill>
                <a:latin typeface="Inter"/>
              </a:rPr>
              <a:t>W6 软著材料包×5(含2025版)+申报书修订+论文 A 骨架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Inter"/>
              </a:rPr>
              <a:t>●  风险对冲: GPU 缺失 → 论文 A 以「轻量可解释」路线本身为贡献      治理: 实验数据一律经采集器, 禁止手工导出原始数据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Content ·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392A"/>
                </a:solidFill>
                <a:latin typeface="Inter"/>
              </a:rPr>
              <a:t>END · 千人千面 IP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1A1A1A"/>
                </a:solidFill>
                <a:latin typeface="Inter"/>
              </a:rPr>
              <a:t>让每一行代码，都成为知识产权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55555"/>
                </a:solidFill>
                <a:latin typeface="Inter"/>
              </a:rPr>
              <a:t>详细方案：docs/IP_STRATEGY_PLAN.md  ·  docs/IP_SUPPORT_REFACTOR_PLAN.md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Thanks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AAAAAA"/>
                </a:solidFill>
                <a:latin typeface="Inter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